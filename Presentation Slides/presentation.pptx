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grandir Narrow Ultra-Bold" charset="1" panose="00000906000000000000"/>
      <p:regular r:id="rId15"/>
    </p:embeddedFont>
    <p:embeddedFont>
      <p:font typeface="Inter Medium" charset="1" panose="02000503000000020004"/>
      <p:regular r:id="rId16"/>
    </p:embeddedFont>
    <p:embeddedFont>
      <p:font typeface="Open Sans" charset="1" panose="00000000000000000000"/>
      <p:regular r:id="rId17"/>
    </p:embeddedFont>
    <p:embeddedFont>
      <p:font typeface="Cocomat Pro Bold" charset="1" panose="00000700000000000000"/>
      <p:regular r:id="rId18"/>
    </p:embeddedFont>
    <p:embeddedFont>
      <p:font typeface="Agrandir Bold" charset="1" panose="00000800000000000000"/>
      <p:regular r:id="rId19"/>
    </p:embeddedFont>
    <p:embeddedFont>
      <p:font typeface="Agrandir Heavy" charset="1" panose="00000900000000000000"/>
      <p:regular r:id="rId20"/>
    </p:embeddedFont>
    <p:embeddedFont>
      <p:font typeface="Bogart Bold" charset="1" panose="00000800000000000000"/>
      <p:regular r:id="rId21"/>
    </p:embeddedFont>
    <p:embeddedFont>
      <p:font typeface="Agrandir Medium" charset="1" panose="00000600000000000000"/>
      <p:regular r:id="rId22"/>
    </p:embeddedFont>
    <p:embeddedFont>
      <p:font typeface="Agrandir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jpe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18" Target="../media/image5.png" Type="http://schemas.openxmlformats.org/officeDocument/2006/relationships/image"/><Relationship Id="rId19" Target="../media/image6.svg" Type="http://schemas.openxmlformats.org/officeDocument/2006/relationships/image"/><Relationship Id="rId2" Target="../media/image26.png" Type="http://schemas.openxmlformats.org/officeDocument/2006/relationships/image"/><Relationship Id="rId20" Target="../media/image40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1.png" Type="http://schemas.openxmlformats.org/officeDocument/2006/relationships/image"/><Relationship Id="rId9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AE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09244" y="2749241"/>
            <a:ext cx="10736409" cy="5012487"/>
            <a:chOff x="0" y="0"/>
            <a:chExt cx="2827696" cy="13201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7696" cy="1320161"/>
            </a:xfrm>
            <a:custGeom>
              <a:avLst/>
              <a:gdLst/>
              <a:ahLst/>
              <a:cxnLst/>
              <a:rect r="r" b="b" t="t" l="l"/>
              <a:pathLst>
                <a:path h="1320161" w="2827696">
                  <a:moveTo>
                    <a:pt x="18027" y="0"/>
                  </a:moveTo>
                  <a:lnTo>
                    <a:pt x="2809669" y="0"/>
                  </a:lnTo>
                  <a:cubicBezTo>
                    <a:pt x="2819625" y="0"/>
                    <a:pt x="2827696" y="8071"/>
                    <a:pt x="2827696" y="18027"/>
                  </a:cubicBezTo>
                  <a:lnTo>
                    <a:pt x="2827696" y="1302134"/>
                  </a:lnTo>
                  <a:cubicBezTo>
                    <a:pt x="2827696" y="1312090"/>
                    <a:pt x="2819625" y="1320161"/>
                    <a:pt x="2809669" y="1320161"/>
                  </a:cubicBezTo>
                  <a:lnTo>
                    <a:pt x="18027" y="1320161"/>
                  </a:lnTo>
                  <a:cubicBezTo>
                    <a:pt x="8071" y="1320161"/>
                    <a:pt x="0" y="1312090"/>
                    <a:pt x="0" y="1302134"/>
                  </a:cubicBezTo>
                  <a:lnTo>
                    <a:pt x="0" y="18027"/>
                  </a:lnTo>
                  <a:cubicBezTo>
                    <a:pt x="0" y="8071"/>
                    <a:pt x="8071" y="0"/>
                    <a:pt x="1802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57175"/>
              <a:ext cx="2827696" cy="157733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5179"/>
                </a:lnSpc>
              </a:pPr>
              <a:r>
                <a:rPr lang="en-US" sz="13799" b="true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PID Motor</a:t>
              </a:r>
            </a:p>
            <a:p>
              <a:pPr algn="ctr" marL="0" indent="0" lvl="0">
                <a:lnSpc>
                  <a:spcPts val="15179"/>
                </a:lnSpc>
                <a:spcBef>
                  <a:spcPct val="0"/>
                </a:spcBef>
              </a:pPr>
              <a:r>
                <a:rPr lang="en-US" b="true" sz="13799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Controller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56261" y="7221040"/>
            <a:ext cx="9525000" cy="1143000"/>
            <a:chOff x="0" y="0"/>
            <a:chExt cx="2508642" cy="3010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8642" cy="301037"/>
            </a:xfrm>
            <a:custGeom>
              <a:avLst/>
              <a:gdLst/>
              <a:ahLst/>
              <a:cxnLst/>
              <a:rect r="r" b="b" t="t" l="l"/>
              <a:pathLst>
                <a:path h="301037" w="2508642">
                  <a:moveTo>
                    <a:pt x="20320" y="0"/>
                  </a:moveTo>
                  <a:lnTo>
                    <a:pt x="2488322" y="0"/>
                  </a:lnTo>
                  <a:cubicBezTo>
                    <a:pt x="2499545" y="0"/>
                    <a:pt x="2508642" y="9098"/>
                    <a:pt x="2508642" y="20320"/>
                  </a:cubicBezTo>
                  <a:lnTo>
                    <a:pt x="2508642" y="280717"/>
                  </a:lnTo>
                  <a:cubicBezTo>
                    <a:pt x="2508642" y="286106"/>
                    <a:pt x="2506501" y="291275"/>
                    <a:pt x="2502690" y="295085"/>
                  </a:cubicBezTo>
                  <a:cubicBezTo>
                    <a:pt x="2498880" y="298896"/>
                    <a:pt x="2493711" y="301037"/>
                    <a:pt x="2488322" y="301037"/>
                  </a:cubicBezTo>
                  <a:lnTo>
                    <a:pt x="20320" y="301037"/>
                  </a:lnTo>
                  <a:cubicBezTo>
                    <a:pt x="9098" y="301037"/>
                    <a:pt x="0" y="291939"/>
                    <a:pt x="0" y="280717"/>
                  </a:cubicBezTo>
                  <a:lnTo>
                    <a:pt x="0" y="20320"/>
                  </a:lnTo>
                  <a:cubicBezTo>
                    <a:pt x="0" y="9098"/>
                    <a:pt x="9098" y="0"/>
                    <a:pt x="20320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508642" cy="301037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560"/>
                </a:lnSpc>
              </a:pPr>
              <a:r>
                <a:rPr lang="en-US" b="true" sz="380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EN2111 - Electronic Circuit Design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1855922">
            <a:off x="6710090" y="259835"/>
            <a:ext cx="5629820" cy="992256"/>
          </a:xfrm>
          <a:custGeom>
            <a:avLst/>
            <a:gdLst/>
            <a:ahLst/>
            <a:cxnLst/>
            <a:rect r="r" b="b" t="t" l="l"/>
            <a:pathLst>
              <a:path h="992256" w="5629820">
                <a:moveTo>
                  <a:pt x="0" y="0"/>
                </a:moveTo>
                <a:lnTo>
                  <a:pt x="5629820" y="0"/>
                </a:lnTo>
                <a:lnTo>
                  <a:pt x="5629820" y="992255"/>
                </a:lnTo>
                <a:lnTo>
                  <a:pt x="0" y="992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687491">
            <a:off x="13758590" y="9120021"/>
            <a:ext cx="5629820" cy="992256"/>
          </a:xfrm>
          <a:custGeom>
            <a:avLst/>
            <a:gdLst/>
            <a:ahLst/>
            <a:cxnLst/>
            <a:rect r="r" b="b" t="t" l="l"/>
            <a:pathLst>
              <a:path h="992256" w="5629820">
                <a:moveTo>
                  <a:pt x="0" y="0"/>
                </a:moveTo>
                <a:lnTo>
                  <a:pt x="5629820" y="0"/>
                </a:lnTo>
                <a:lnTo>
                  <a:pt x="5629820" y="992256"/>
                </a:lnTo>
                <a:lnTo>
                  <a:pt x="0" y="992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420275" y="1181547"/>
            <a:ext cx="3014386" cy="1446905"/>
          </a:xfrm>
          <a:custGeom>
            <a:avLst/>
            <a:gdLst/>
            <a:ahLst/>
            <a:cxnLst/>
            <a:rect r="r" b="b" t="t" l="l"/>
            <a:pathLst>
              <a:path h="1446905" w="3014386">
                <a:moveTo>
                  <a:pt x="0" y="0"/>
                </a:moveTo>
                <a:lnTo>
                  <a:pt x="3014386" y="0"/>
                </a:lnTo>
                <a:lnTo>
                  <a:pt x="3014386" y="1446906"/>
                </a:lnTo>
                <a:lnTo>
                  <a:pt x="0" y="1446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267321">
            <a:off x="1852039" y="10087371"/>
            <a:ext cx="7671380" cy="1387241"/>
          </a:xfrm>
          <a:custGeom>
            <a:avLst/>
            <a:gdLst/>
            <a:ahLst/>
            <a:cxnLst/>
            <a:rect r="r" b="b" t="t" l="l"/>
            <a:pathLst>
              <a:path h="1387241" w="7671380">
                <a:moveTo>
                  <a:pt x="0" y="0"/>
                </a:moveTo>
                <a:lnTo>
                  <a:pt x="7671381" y="0"/>
                </a:lnTo>
                <a:lnTo>
                  <a:pt x="7671381" y="1387241"/>
                </a:lnTo>
                <a:lnTo>
                  <a:pt x="0" y="1387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483364">
            <a:off x="-2171089" y="6135558"/>
            <a:ext cx="5851051" cy="2793877"/>
          </a:xfrm>
          <a:custGeom>
            <a:avLst/>
            <a:gdLst/>
            <a:ahLst/>
            <a:cxnLst/>
            <a:rect r="r" b="b" t="t" l="l"/>
            <a:pathLst>
              <a:path h="2793877" w="5851051">
                <a:moveTo>
                  <a:pt x="0" y="0"/>
                </a:moveTo>
                <a:lnTo>
                  <a:pt x="5851051" y="0"/>
                </a:lnTo>
                <a:lnTo>
                  <a:pt x="5851051" y="2793877"/>
                </a:lnTo>
                <a:lnTo>
                  <a:pt x="0" y="27938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944832" y="2139399"/>
            <a:ext cx="2700821" cy="978108"/>
            <a:chOff x="0" y="0"/>
            <a:chExt cx="711327" cy="2576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327" cy="257609"/>
            </a:xfrm>
            <a:custGeom>
              <a:avLst/>
              <a:gdLst/>
              <a:ahLst/>
              <a:cxnLst/>
              <a:rect r="r" b="b" t="t" l="l"/>
              <a:pathLst>
                <a:path h="257609" w="711327">
                  <a:moveTo>
                    <a:pt x="71663" y="0"/>
                  </a:moveTo>
                  <a:lnTo>
                    <a:pt x="639665" y="0"/>
                  </a:lnTo>
                  <a:cubicBezTo>
                    <a:pt x="679243" y="0"/>
                    <a:pt x="711327" y="32084"/>
                    <a:pt x="711327" y="71663"/>
                  </a:cubicBezTo>
                  <a:lnTo>
                    <a:pt x="711327" y="185946"/>
                  </a:lnTo>
                  <a:cubicBezTo>
                    <a:pt x="711327" y="225524"/>
                    <a:pt x="679243" y="257609"/>
                    <a:pt x="639665" y="257609"/>
                  </a:cubicBezTo>
                  <a:lnTo>
                    <a:pt x="71663" y="257609"/>
                  </a:lnTo>
                  <a:cubicBezTo>
                    <a:pt x="32084" y="257609"/>
                    <a:pt x="0" y="225524"/>
                    <a:pt x="0" y="185946"/>
                  </a:cubicBezTo>
                  <a:lnTo>
                    <a:pt x="0" y="71663"/>
                  </a:lnTo>
                  <a:cubicBezTo>
                    <a:pt x="0" y="32084"/>
                    <a:pt x="32084" y="0"/>
                    <a:pt x="71663" y="0"/>
                  </a:cubicBezTo>
                  <a:close/>
                </a:path>
              </a:pathLst>
            </a:custGeom>
            <a:solidFill>
              <a:srgbClr val="E5F0F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11327" cy="257609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4560"/>
                </a:lnSpc>
              </a:pPr>
              <a:r>
                <a:rPr lang="en-US" b="true" sz="3800">
                  <a:solidFill>
                    <a:srgbClr val="000001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Group 13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75806" y="1181547"/>
            <a:ext cx="4711923" cy="2861422"/>
          </a:xfrm>
          <a:custGeom>
            <a:avLst/>
            <a:gdLst/>
            <a:ahLst/>
            <a:cxnLst/>
            <a:rect r="r" b="b" t="t" l="l"/>
            <a:pathLst>
              <a:path h="2861422" w="4711923">
                <a:moveTo>
                  <a:pt x="0" y="0"/>
                </a:moveTo>
                <a:lnTo>
                  <a:pt x="4711923" y="0"/>
                </a:lnTo>
                <a:lnTo>
                  <a:pt x="4711923" y="2861423"/>
                </a:lnTo>
                <a:lnTo>
                  <a:pt x="0" y="2861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AE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0" y="7757803"/>
            <a:ext cx="18669000" cy="2719697"/>
            <a:chOff x="0" y="0"/>
            <a:chExt cx="4741333" cy="6907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41333" cy="690717"/>
            </a:xfrm>
            <a:custGeom>
              <a:avLst/>
              <a:gdLst/>
              <a:ahLst/>
              <a:cxnLst/>
              <a:rect r="r" b="b" t="t" l="l"/>
              <a:pathLst>
                <a:path h="690717" w="4741333">
                  <a:moveTo>
                    <a:pt x="0" y="0"/>
                  </a:moveTo>
                  <a:lnTo>
                    <a:pt x="4741333" y="0"/>
                  </a:lnTo>
                  <a:lnTo>
                    <a:pt x="4741333" y="690717"/>
                  </a:lnTo>
                  <a:lnTo>
                    <a:pt x="0" y="690717"/>
                  </a:lnTo>
                  <a:close/>
                </a:path>
              </a:pathLst>
            </a:custGeom>
            <a:solidFill>
              <a:srgbClr val="38476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741333" cy="662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25421" y="2875175"/>
            <a:ext cx="14305458" cy="5978708"/>
          </a:xfrm>
          <a:custGeom>
            <a:avLst/>
            <a:gdLst/>
            <a:ahLst/>
            <a:cxnLst/>
            <a:rect r="r" b="b" t="t" l="l"/>
            <a:pathLst>
              <a:path h="5978708" w="14305458">
                <a:moveTo>
                  <a:pt x="0" y="0"/>
                </a:moveTo>
                <a:lnTo>
                  <a:pt x="14305458" y="0"/>
                </a:lnTo>
                <a:lnTo>
                  <a:pt x="14305458" y="5978708"/>
                </a:lnTo>
                <a:lnTo>
                  <a:pt x="0" y="5978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74" t="-38043" r="-2571" b="0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6" id="6"/>
          <p:cNvGrpSpPr/>
          <p:nvPr/>
        </p:nvGrpSpPr>
        <p:grpSpPr>
          <a:xfrm rot="0">
            <a:off x="7080453" y="1274063"/>
            <a:ext cx="7735626" cy="1834887"/>
            <a:chOff x="0" y="0"/>
            <a:chExt cx="1400689" cy="3322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0690" cy="332243"/>
            </a:xfrm>
            <a:custGeom>
              <a:avLst/>
              <a:gdLst/>
              <a:ahLst/>
              <a:cxnLst/>
              <a:rect r="r" b="b" t="t" l="l"/>
              <a:pathLst>
                <a:path h="332243" w="1400690">
                  <a:moveTo>
                    <a:pt x="25020" y="0"/>
                  </a:moveTo>
                  <a:lnTo>
                    <a:pt x="1375669" y="0"/>
                  </a:lnTo>
                  <a:cubicBezTo>
                    <a:pt x="1389487" y="0"/>
                    <a:pt x="1400690" y="11202"/>
                    <a:pt x="1400690" y="25020"/>
                  </a:cubicBezTo>
                  <a:lnTo>
                    <a:pt x="1400690" y="307223"/>
                  </a:lnTo>
                  <a:cubicBezTo>
                    <a:pt x="1400690" y="313858"/>
                    <a:pt x="1398053" y="320222"/>
                    <a:pt x="1393361" y="324915"/>
                  </a:cubicBezTo>
                  <a:cubicBezTo>
                    <a:pt x="1388669" y="329607"/>
                    <a:pt x="1382305" y="332243"/>
                    <a:pt x="1375669" y="332243"/>
                  </a:cubicBezTo>
                  <a:lnTo>
                    <a:pt x="25020" y="332243"/>
                  </a:lnTo>
                  <a:cubicBezTo>
                    <a:pt x="18385" y="332243"/>
                    <a:pt x="12021" y="329607"/>
                    <a:pt x="7328" y="324915"/>
                  </a:cubicBezTo>
                  <a:cubicBezTo>
                    <a:pt x="2636" y="320222"/>
                    <a:pt x="0" y="313858"/>
                    <a:pt x="0" y="307223"/>
                  </a:cubicBezTo>
                  <a:lnTo>
                    <a:pt x="0" y="25020"/>
                  </a:lnTo>
                  <a:cubicBezTo>
                    <a:pt x="0" y="18385"/>
                    <a:pt x="2636" y="12021"/>
                    <a:pt x="7328" y="7328"/>
                  </a:cubicBezTo>
                  <a:cubicBezTo>
                    <a:pt x="12021" y="2636"/>
                    <a:pt x="18385" y="0"/>
                    <a:pt x="25020" y="0"/>
                  </a:cubicBezTo>
                  <a:close/>
                </a:path>
              </a:pathLst>
            </a:custGeom>
            <a:solidFill>
              <a:srgbClr val="F2C74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400689" cy="494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459"/>
                </a:lnSpc>
              </a:pPr>
              <a:r>
                <a:rPr lang="en-US" b="true" sz="8599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Introduction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0" y="271074"/>
            <a:ext cx="4370071" cy="6959191"/>
          </a:xfrm>
          <a:custGeom>
            <a:avLst/>
            <a:gdLst/>
            <a:ahLst/>
            <a:cxnLst/>
            <a:rect r="r" b="b" t="t" l="l"/>
            <a:pathLst>
              <a:path h="6959191" w="4370071">
                <a:moveTo>
                  <a:pt x="4370071" y="0"/>
                </a:moveTo>
                <a:lnTo>
                  <a:pt x="0" y="0"/>
                </a:lnTo>
                <a:lnTo>
                  <a:pt x="0" y="6959191"/>
                </a:lnTo>
                <a:lnTo>
                  <a:pt x="4370071" y="6959191"/>
                </a:lnTo>
                <a:lnTo>
                  <a:pt x="4370071" y="0"/>
                </a:lnTo>
                <a:close/>
              </a:path>
            </a:pathLst>
          </a:custGeom>
          <a:blipFill>
            <a:blip r:embed="rId4"/>
            <a:stretch>
              <a:fillRect l="0" t="0" r="0" b="-6745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586029" y="3712569"/>
            <a:ext cx="13344850" cy="38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9"/>
              </a:lnSpc>
            </a:pPr>
            <a:r>
              <a:rPr lang="en-US" sz="3399">
                <a:solidFill>
                  <a:srgbClr val="000001"/>
                </a:solidFill>
                <a:latin typeface="Open Sans"/>
                <a:ea typeface="Open Sans"/>
                <a:cs typeface="Open Sans"/>
                <a:sym typeface="Open Sans"/>
              </a:rPr>
              <a:t>In this project, we design an analog PID-based motor speed controller that maintains constant motor speed despite load variations.The system uses</a:t>
            </a:r>
          </a:p>
          <a:p>
            <a:pPr algn="l" marL="733972" indent="-366986" lvl="1">
              <a:lnSpc>
                <a:spcPts val="4419"/>
              </a:lnSpc>
              <a:buFont typeface="Arial"/>
              <a:buChar char="•"/>
            </a:pPr>
            <a:r>
              <a:rPr lang="en-US" sz="3399">
                <a:solidFill>
                  <a:srgbClr val="000001"/>
                </a:solidFill>
                <a:latin typeface="Open Sans"/>
                <a:ea typeface="Open Sans"/>
                <a:cs typeface="Open Sans"/>
                <a:sym typeface="Open Sans"/>
              </a:rPr>
              <a:t>A reference speed input</a:t>
            </a:r>
          </a:p>
          <a:p>
            <a:pPr algn="l" marL="733972" indent="-366986" lvl="1">
              <a:lnSpc>
                <a:spcPts val="4419"/>
              </a:lnSpc>
              <a:buFont typeface="Arial"/>
              <a:buChar char="•"/>
            </a:pPr>
            <a:r>
              <a:rPr lang="en-US" sz="3399">
                <a:solidFill>
                  <a:srgbClr val="000001"/>
                </a:solidFill>
                <a:latin typeface="Open Sans"/>
                <a:ea typeface="Open Sans"/>
                <a:cs typeface="Open Sans"/>
                <a:sym typeface="Open Sans"/>
              </a:rPr>
              <a:t>Feedback from motor encoder</a:t>
            </a:r>
          </a:p>
          <a:p>
            <a:pPr algn="l" marL="733972" indent="-366986" lvl="1">
              <a:lnSpc>
                <a:spcPts val="4419"/>
              </a:lnSpc>
              <a:buFont typeface="Arial"/>
              <a:buChar char="•"/>
            </a:pPr>
            <a:r>
              <a:rPr lang="en-US" sz="3399">
                <a:solidFill>
                  <a:srgbClr val="000001"/>
                </a:solidFill>
                <a:latin typeface="Open Sans"/>
                <a:ea typeface="Open Sans"/>
                <a:cs typeface="Open Sans"/>
                <a:sym typeface="Open Sans"/>
              </a:rPr>
              <a:t>Analog PID control</a:t>
            </a:r>
          </a:p>
          <a:p>
            <a:pPr algn="l" marL="733972" indent="-366986" lvl="1">
              <a:lnSpc>
                <a:spcPts val="4419"/>
              </a:lnSpc>
              <a:buFont typeface="Arial"/>
              <a:buChar char="•"/>
            </a:pPr>
            <a:r>
              <a:rPr lang="en-US" sz="3399">
                <a:solidFill>
                  <a:srgbClr val="000001"/>
                </a:solidFill>
                <a:latin typeface="Open Sans"/>
                <a:ea typeface="Open Sans"/>
                <a:cs typeface="Open Sans"/>
                <a:sym typeface="Open Sans"/>
              </a:rPr>
              <a:t>PWM-based motor drive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87B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02256" y="5997988"/>
            <a:ext cx="3784750" cy="1141936"/>
            <a:chOff x="0" y="0"/>
            <a:chExt cx="10928346" cy="3230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080" y="12700"/>
              <a:ext cx="10913106" cy="3205480"/>
            </a:xfrm>
            <a:custGeom>
              <a:avLst/>
              <a:gdLst/>
              <a:ahLst/>
              <a:cxnLst/>
              <a:rect r="r" b="b" t="t" l="l"/>
              <a:pathLst>
                <a:path h="3205480" w="10913106">
                  <a:moveTo>
                    <a:pt x="10123165" y="3205480"/>
                  </a:moveTo>
                  <a:lnTo>
                    <a:pt x="0" y="3205480"/>
                  </a:lnTo>
                  <a:lnTo>
                    <a:pt x="791210" y="1602740"/>
                  </a:lnTo>
                  <a:lnTo>
                    <a:pt x="0" y="0"/>
                  </a:lnTo>
                  <a:lnTo>
                    <a:pt x="10123165" y="0"/>
                  </a:lnTo>
                  <a:lnTo>
                    <a:pt x="10913106" y="1602740"/>
                  </a:lnTo>
                  <a:lnTo>
                    <a:pt x="10123165" y="3205480"/>
                  </a:lnTo>
                  <a:close/>
                </a:path>
              </a:pathLst>
            </a:custGeom>
            <a:solidFill>
              <a:srgbClr val="F2C74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72307" y="5998908"/>
            <a:ext cx="3590635" cy="1141936"/>
            <a:chOff x="0" y="0"/>
            <a:chExt cx="10367846" cy="3230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80" y="12700"/>
              <a:ext cx="10352606" cy="3205480"/>
            </a:xfrm>
            <a:custGeom>
              <a:avLst/>
              <a:gdLst/>
              <a:ahLst/>
              <a:cxnLst/>
              <a:rect r="r" b="b" t="t" l="l"/>
              <a:pathLst>
                <a:path h="3205480" w="10352606">
                  <a:moveTo>
                    <a:pt x="9562665" y="3205480"/>
                  </a:moveTo>
                  <a:lnTo>
                    <a:pt x="0" y="3205480"/>
                  </a:lnTo>
                  <a:lnTo>
                    <a:pt x="791210" y="1602740"/>
                  </a:lnTo>
                  <a:lnTo>
                    <a:pt x="0" y="0"/>
                  </a:lnTo>
                  <a:lnTo>
                    <a:pt x="9562665" y="0"/>
                  </a:lnTo>
                  <a:lnTo>
                    <a:pt x="10352606" y="1602740"/>
                  </a:lnTo>
                  <a:lnTo>
                    <a:pt x="9562665" y="3205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78048" y="5998908"/>
            <a:ext cx="3590635" cy="1141936"/>
            <a:chOff x="0" y="0"/>
            <a:chExt cx="10367846" cy="3230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80" y="12700"/>
              <a:ext cx="10352606" cy="3205480"/>
            </a:xfrm>
            <a:custGeom>
              <a:avLst/>
              <a:gdLst/>
              <a:ahLst/>
              <a:cxnLst/>
              <a:rect r="r" b="b" t="t" l="l"/>
              <a:pathLst>
                <a:path h="3205480" w="10352606">
                  <a:moveTo>
                    <a:pt x="9562665" y="3205480"/>
                  </a:moveTo>
                  <a:lnTo>
                    <a:pt x="0" y="3205480"/>
                  </a:lnTo>
                  <a:lnTo>
                    <a:pt x="791210" y="1602740"/>
                  </a:lnTo>
                  <a:lnTo>
                    <a:pt x="0" y="0"/>
                  </a:lnTo>
                  <a:lnTo>
                    <a:pt x="9562665" y="0"/>
                  </a:lnTo>
                  <a:lnTo>
                    <a:pt x="10352606" y="1602740"/>
                  </a:lnTo>
                  <a:lnTo>
                    <a:pt x="9562665" y="3205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36429" y="3203454"/>
            <a:ext cx="2082415" cy="20824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C74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440700" y="3203454"/>
            <a:ext cx="2082415" cy="20824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232158" y="3203454"/>
            <a:ext cx="2082415" cy="208241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3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877636" y="5285869"/>
            <a:ext cx="16995" cy="728019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>
            <a:off x="4467625" y="5285869"/>
            <a:ext cx="14282" cy="728939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3273365" y="5285869"/>
            <a:ext cx="0" cy="728939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669529" y="6018241"/>
            <a:ext cx="3504052" cy="1036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2"/>
              </a:lnSpc>
            </a:pPr>
            <a:r>
              <a:rPr lang="en-US" b="true" sz="295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FeedBack</a:t>
            </a:r>
          </a:p>
          <a:p>
            <a:pPr algn="ctr" marL="0" indent="0" lvl="0">
              <a:lnSpc>
                <a:spcPts val="4142"/>
              </a:lnSpc>
            </a:pPr>
            <a:r>
              <a:rPr lang="en-US" b="true" sz="295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Generation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82954" y="6283909"/>
            <a:ext cx="3504052" cy="51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69"/>
              </a:lnSpc>
            </a:pPr>
            <a:r>
              <a:rPr lang="en-US" b="true" sz="2977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PID Controller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12728" y="6264859"/>
            <a:ext cx="3504052" cy="52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6"/>
              </a:lnSpc>
            </a:pPr>
            <a:r>
              <a:rPr lang="en-US" b="true" sz="2940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Driver Stage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285914" y="1028700"/>
            <a:ext cx="7716172" cy="1195120"/>
            <a:chOff x="0" y="0"/>
            <a:chExt cx="1397167" cy="21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97167" cy="216400"/>
            </a:xfrm>
            <a:custGeom>
              <a:avLst/>
              <a:gdLst/>
              <a:ahLst/>
              <a:cxnLst/>
              <a:rect r="r" b="b" t="t" l="l"/>
              <a:pathLst>
                <a:path h="216400" w="1397167">
                  <a:moveTo>
                    <a:pt x="25083" y="0"/>
                  </a:moveTo>
                  <a:lnTo>
                    <a:pt x="1372083" y="0"/>
                  </a:lnTo>
                  <a:cubicBezTo>
                    <a:pt x="1378736" y="0"/>
                    <a:pt x="1385116" y="2643"/>
                    <a:pt x="1389820" y="7347"/>
                  </a:cubicBezTo>
                  <a:cubicBezTo>
                    <a:pt x="1394524" y="12051"/>
                    <a:pt x="1397167" y="18431"/>
                    <a:pt x="1397167" y="25083"/>
                  </a:cubicBezTo>
                  <a:lnTo>
                    <a:pt x="1397167" y="191317"/>
                  </a:lnTo>
                  <a:cubicBezTo>
                    <a:pt x="1397167" y="197969"/>
                    <a:pt x="1394524" y="204350"/>
                    <a:pt x="1389820" y="209054"/>
                  </a:cubicBezTo>
                  <a:cubicBezTo>
                    <a:pt x="1385116" y="213758"/>
                    <a:pt x="1378736" y="216400"/>
                    <a:pt x="1372083" y="216400"/>
                  </a:cubicBezTo>
                  <a:lnTo>
                    <a:pt x="25083" y="216400"/>
                  </a:lnTo>
                  <a:cubicBezTo>
                    <a:pt x="18431" y="216400"/>
                    <a:pt x="12051" y="213758"/>
                    <a:pt x="7347" y="209054"/>
                  </a:cubicBezTo>
                  <a:cubicBezTo>
                    <a:pt x="2643" y="204350"/>
                    <a:pt x="0" y="197969"/>
                    <a:pt x="0" y="191317"/>
                  </a:cubicBezTo>
                  <a:lnTo>
                    <a:pt x="0" y="25083"/>
                  </a:lnTo>
                  <a:cubicBezTo>
                    <a:pt x="0" y="18431"/>
                    <a:pt x="2643" y="12051"/>
                    <a:pt x="7347" y="7347"/>
                  </a:cubicBezTo>
                  <a:cubicBezTo>
                    <a:pt x="12051" y="2643"/>
                    <a:pt x="18431" y="0"/>
                    <a:pt x="25083" y="0"/>
                  </a:cubicBezTo>
                  <a:close/>
                </a:path>
              </a:pathLst>
            </a:custGeom>
            <a:solidFill>
              <a:srgbClr val="F2C74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61925"/>
              <a:ext cx="1397167" cy="378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94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381390" y="907567"/>
            <a:ext cx="7525221" cy="118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21"/>
              </a:lnSpc>
            </a:pPr>
            <a:r>
              <a:rPr lang="en-US" b="true" sz="61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Block Diagram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786427" y="7463774"/>
            <a:ext cx="4000579" cy="1720283"/>
            <a:chOff x="0" y="0"/>
            <a:chExt cx="2168568" cy="9325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68568" cy="932503"/>
            </a:xfrm>
            <a:custGeom>
              <a:avLst/>
              <a:gdLst/>
              <a:ahLst/>
              <a:cxnLst/>
              <a:rect r="r" b="b" t="t" l="l"/>
              <a:pathLst>
                <a:path h="932503" w="2168568">
                  <a:moveTo>
                    <a:pt x="1965368" y="0"/>
                  </a:moveTo>
                  <a:cubicBezTo>
                    <a:pt x="2077592" y="0"/>
                    <a:pt x="2168568" y="208748"/>
                    <a:pt x="2168568" y="466251"/>
                  </a:cubicBezTo>
                  <a:cubicBezTo>
                    <a:pt x="2168568" y="723755"/>
                    <a:pt x="2077592" y="932503"/>
                    <a:pt x="1965368" y="932503"/>
                  </a:cubicBezTo>
                  <a:lnTo>
                    <a:pt x="203200" y="932503"/>
                  </a:lnTo>
                  <a:cubicBezTo>
                    <a:pt x="90976" y="932503"/>
                    <a:pt x="0" y="723755"/>
                    <a:pt x="0" y="466251"/>
                  </a:cubicBezTo>
                  <a:cubicBezTo>
                    <a:pt x="0" y="20874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04060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168568" cy="942028"/>
            </a:xfrm>
            <a:prstGeom prst="rect">
              <a:avLst/>
            </a:prstGeom>
          </p:spPr>
          <p:txBody>
            <a:bodyPr anchor="ctr" rtlCol="false" tIns="71403" lIns="71403" bIns="71403" rIns="71403"/>
            <a:lstStyle/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Integrator</a:t>
              </a:r>
            </a:p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Differentiator</a:t>
              </a:r>
            </a:p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Differential Amplifier</a:t>
              </a:r>
            </a:p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Summing Amplifier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210712" y="7463774"/>
            <a:ext cx="5081556" cy="2091758"/>
            <a:chOff x="0" y="0"/>
            <a:chExt cx="2754526" cy="11338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54526" cy="1133866"/>
            </a:xfrm>
            <a:custGeom>
              <a:avLst/>
              <a:gdLst/>
              <a:ahLst/>
              <a:cxnLst/>
              <a:rect r="r" b="b" t="t" l="l"/>
              <a:pathLst>
                <a:path h="1133866" w="2754526">
                  <a:moveTo>
                    <a:pt x="2551326" y="0"/>
                  </a:moveTo>
                  <a:cubicBezTo>
                    <a:pt x="2663550" y="0"/>
                    <a:pt x="2754526" y="253824"/>
                    <a:pt x="2754526" y="566933"/>
                  </a:cubicBezTo>
                  <a:cubicBezTo>
                    <a:pt x="2754526" y="880041"/>
                    <a:pt x="2663550" y="1133866"/>
                    <a:pt x="2551326" y="1133866"/>
                  </a:cubicBezTo>
                  <a:lnTo>
                    <a:pt x="203200" y="1133866"/>
                  </a:lnTo>
                  <a:cubicBezTo>
                    <a:pt x="90976" y="1133866"/>
                    <a:pt x="0" y="880041"/>
                    <a:pt x="0" y="566933"/>
                  </a:cubicBezTo>
                  <a:cubicBezTo>
                    <a:pt x="0" y="25382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04060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754526" cy="1143391"/>
            </a:xfrm>
            <a:prstGeom prst="rect">
              <a:avLst/>
            </a:prstGeom>
          </p:spPr>
          <p:txBody>
            <a:bodyPr anchor="ctr" rtlCol="false" tIns="71403" lIns="71403" bIns="71403" rIns="71403"/>
            <a:lstStyle/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PWM generator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(Relaxation Oscillator+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Integrator</a:t>
              </a:r>
            </a:p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Comparator)</a:t>
              </a:r>
            </a:p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Motor Driver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511356" y="7700430"/>
            <a:ext cx="3480878" cy="749728"/>
            <a:chOff x="0" y="0"/>
            <a:chExt cx="1886857" cy="406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86857" cy="406400"/>
            </a:xfrm>
            <a:custGeom>
              <a:avLst/>
              <a:gdLst/>
              <a:ahLst/>
              <a:cxnLst/>
              <a:rect r="r" b="b" t="t" l="l"/>
              <a:pathLst>
                <a:path h="406400" w="1886857">
                  <a:moveTo>
                    <a:pt x="1683657" y="0"/>
                  </a:moveTo>
                  <a:cubicBezTo>
                    <a:pt x="1795881" y="0"/>
                    <a:pt x="1886857" y="90976"/>
                    <a:pt x="1886857" y="203200"/>
                  </a:cubicBezTo>
                  <a:cubicBezTo>
                    <a:pt x="1886857" y="315424"/>
                    <a:pt x="1795881" y="406400"/>
                    <a:pt x="16836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04060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886857" cy="415925"/>
            </a:xfrm>
            <a:prstGeom prst="rect">
              <a:avLst/>
            </a:prstGeom>
          </p:spPr>
          <p:txBody>
            <a:bodyPr anchor="ctr" rtlCol="false" tIns="71403" lIns="71403" bIns="71403" rIns="71403"/>
            <a:lstStyle/>
            <a:p>
              <a:pPr algn="l" marL="539749" indent="-269875" lvl="1">
                <a:lnSpc>
                  <a:spcPts val="2999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FFFFFF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F-V converter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AE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0" y="5143500"/>
            <a:ext cx="18669000" cy="5334000"/>
            <a:chOff x="0" y="0"/>
            <a:chExt cx="4741333" cy="135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41333" cy="1354667"/>
            </a:xfrm>
            <a:custGeom>
              <a:avLst/>
              <a:gdLst/>
              <a:ahLst/>
              <a:cxnLst/>
              <a:rect r="r" b="b" t="t" l="l"/>
              <a:pathLst>
                <a:path h="1354667" w="4741333">
                  <a:moveTo>
                    <a:pt x="0" y="0"/>
                  </a:moveTo>
                  <a:lnTo>
                    <a:pt x="4741333" y="0"/>
                  </a:lnTo>
                  <a:lnTo>
                    <a:pt x="4741333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C6A33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741333" cy="1326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62101" y="3076575"/>
            <a:ext cx="15082899" cy="6572250"/>
            <a:chOff x="0" y="0"/>
            <a:chExt cx="3972451" cy="17309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72451" cy="1730963"/>
            </a:xfrm>
            <a:custGeom>
              <a:avLst/>
              <a:gdLst/>
              <a:ahLst/>
              <a:cxnLst/>
              <a:rect r="r" b="b" t="t" l="l"/>
              <a:pathLst>
                <a:path h="1730963" w="3972451">
                  <a:moveTo>
                    <a:pt x="15399" y="0"/>
                  </a:moveTo>
                  <a:lnTo>
                    <a:pt x="3957052" y="0"/>
                  </a:lnTo>
                  <a:cubicBezTo>
                    <a:pt x="3961136" y="0"/>
                    <a:pt x="3965053" y="1622"/>
                    <a:pt x="3967941" y="4510"/>
                  </a:cubicBezTo>
                  <a:cubicBezTo>
                    <a:pt x="3970829" y="7398"/>
                    <a:pt x="3972451" y="11315"/>
                    <a:pt x="3972451" y="15399"/>
                  </a:cubicBezTo>
                  <a:lnTo>
                    <a:pt x="3972451" y="1715564"/>
                  </a:lnTo>
                  <a:cubicBezTo>
                    <a:pt x="3972451" y="1719648"/>
                    <a:pt x="3970829" y="1723565"/>
                    <a:pt x="3967941" y="1726453"/>
                  </a:cubicBezTo>
                  <a:cubicBezTo>
                    <a:pt x="3965053" y="1729341"/>
                    <a:pt x="3961136" y="1730963"/>
                    <a:pt x="3957052" y="1730963"/>
                  </a:cubicBezTo>
                  <a:lnTo>
                    <a:pt x="15399" y="1730963"/>
                  </a:lnTo>
                  <a:cubicBezTo>
                    <a:pt x="11315" y="1730963"/>
                    <a:pt x="7398" y="1729341"/>
                    <a:pt x="4510" y="1726453"/>
                  </a:cubicBezTo>
                  <a:cubicBezTo>
                    <a:pt x="1622" y="1723565"/>
                    <a:pt x="0" y="1719648"/>
                    <a:pt x="0" y="1715564"/>
                  </a:cubicBezTo>
                  <a:lnTo>
                    <a:pt x="0" y="15399"/>
                  </a:lnTo>
                  <a:cubicBezTo>
                    <a:pt x="0" y="11315"/>
                    <a:pt x="1622" y="7398"/>
                    <a:pt x="4510" y="4510"/>
                  </a:cubicBezTo>
                  <a:cubicBezTo>
                    <a:pt x="7398" y="1622"/>
                    <a:pt x="11315" y="0"/>
                    <a:pt x="15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972451" cy="1702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854092" y="2476500"/>
            <a:ext cx="4572000" cy="1200150"/>
            <a:chOff x="0" y="0"/>
            <a:chExt cx="1592583" cy="4180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92583" cy="418053"/>
            </a:xfrm>
            <a:custGeom>
              <a:avLst/>
              <a:gdLst/>
              <a:ahLst/>
              <a:cxnLst/>
              <a:rect r="r" b="b" t="t" l="l"/>
              <a:pathLst>
                <a:path h="418053" w="1592583">
                  <a:moveTo>
                    <a:pt x="42333" y="0"/>
                  </a:moveTo>
                  <a:lnTo>
                    <a:pt x="1550250" y="0"/>
                  </a:lnTo>
                  <a:cubicBezTo>
                    <a:pt x="1561477" y="0"/>
                    <a:pt x="1572245" y="4460"/>
                    <a:pt x="1580184" y="12399"/>
                  </a:cubicBezTo>
                  <a:cubicBezTo>
                    <a:pt x="1588123" y="20338"/>
                    <a:pt x="1592583" y="31106"/>
                    <a:pt x="1592583" y="42333"/>
                  </a:cubicBezTo>
                  <a:lnTo>
                    <a:pt x="1592583" y="375720"/>
                  </a:lnTo>
                  <a:cubicBezTo>
                    <a:pt x="1592583" y="386947"/>
                    <a:pt x="1588123" y="397715"/>
                    <a:pt x="1580184" y="405654"/>
                  </a:cubicBezTo>
                  <a:cubicBezTo>
                    <a:pt x="1572245" y="413593"/>
                    <a:pt x="1561477" y="418053"/>
                    <a:pt x="1550250" y="418053"/>
                  </a:cubicBezTo>
                  <a:lnTo>
                    <a:pt x="42333" y="418053"/>
                  </a:lnTo>
                  <a:cubicBezTo>
                    <a:pt x="31106" y="418053"/>
                    <a:pt x="20338" y="413593"/>
                    <a:pt x="12399" y="405654"/>
                  </a:cubicBezTo>
                  <a:cubicBezTo>
                    <a:pt x="4460" y="397715"/>
                    <a:pt x="0" y="386947"/>
                    <a:pt x="0" y="375720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592583" cy="49425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4399"/>
                </a:lnSpc>
              </a:pPr>
              <a:r>
                <a:rPr lang="en-US" b="true" sz="3999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F-V Conversion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726381" y="3786588"/>
            <a:ext cx="11500455" cy="5471712"/>
          </a:xfrm>
          <a:custGeom>
            <a:avLst/>
            <a:gdLst/>
            <a:ahLst/>
            <a:cxnLst/>
            <a:rect r="r" b="b" t="t" l="l"/>
            <a:pathLst>
              <a:path h="5471712" w="11500455">
                <a:moveTo>
                  <a:pt x="0" y="0"/>
                </a:moveTo>
                <a:lnTo>
                  <a:pt x="11500455" y="0"/>
                </a:lnTo>
                <a:lnTo>
                  <a:pt x="11500455" y="5471712"/>
                </a:lnTo>
                <a:lnTo>
                  <a:pt x="0" y="5471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302" r="0" b="-1130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3000" y="762000"/>
            <a:ext cx="160020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000001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FeedBack Generation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B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3678" y="-225382"/>
            <a:ext cx="9685988" cy="10893384"/>
            <a:chOff x="0" y="0"/>
            <a:chExt cx="2551042" cy="2869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1042" cy="2869039"/>
            </a:xfrm>
            <a:custGeom>
              <a:avLst/>
              <a:gdLst/>
              <a:ahLst/>
              <a:cxnLst/>
              <a:rect r="r" b="b" t="t" l="l"/>
              <a:pathLst>
                <a:path h="2869039" w="2551042">
                  <a:moveTo>
                    <a:pt x="19982" y="0"/>
                  </a:moveTo>
                  <a:lnTo>
                    <a:pt x="2531060" y="0"/>
                  </a:lnTo>
                  <a:cubicBezTo>
                    <a:pt x="2536360" y="0"/>
                    <a:pt x="2541442" y="2105"/>
                    <a:pt x="2545189" y="5853"/>
                  </a:cubicBezTo>
                  <a:cubicBezTo>
                    <a:pt x="2548937" y="9600"/>
                    <a:pt x="2551042" y="14683"/>
                    <a:pt x="2551042" y="19982"/>
                  </a:cubicBezTo>
                  <a:lnTo>
                    <a:pt x="2551042" y="2849057"/>
                  </a:lnTo>
                  <a:cubicBezTo>
                    <a:pt x="2551042" y="2854357"/>
                    <a:pt x="2548937" y="2859439"/>
                    <a:pt x="2545189" y="2863187"/>
                  </a:cubicBezTo>
                  <a:cubicBezTo>
                    <a:pt x="2541442" y="2866934"/>
                    <a:pt x="2536360" y="2869039"/>
                    <a:pt x="2531060" y="2869039"/>
                  </a:cubicBezTo>
                  <a:lnTo>
                    <a:pt x="19982" y="2869039"/>
                  </a:lnTo>
                  <a:cubicBezTo>
                    <a:pt x="14683" y="2869039"/>
                    <a:pt x="9600" y="2866934"/>
                    <a:pt x="5853" y="2863187"/>
                  </a:cubicBezTo>
                  <a:cubicBezTo>
                    <a:pt x="2105" y="2859439"/>
                    <a:pt x="0" y="2854357"/>
                    <a:pt x="0" y="2849057"/>
                  </a:cubicBezTo>
                  <a:lnTo>
                    <a:pt x="0" y="19982"/>
                  </a:lnTo>
                  <a:cubicBezTo>
                    <a:pt x="0" y="14683"/>
                    <a:pt x="2105" y="9600"/>
                    <a:pt x="5853" y="5853"/>
                  </a:cubicBezTo>
                  <a:cubicBezTo>
                    <a:pt x="9600" y="2105"/>
                    <a:pt x="14683" y="0"/>
                    <a:pt x="1998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551042" cy="2916664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51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91663" y="935429"/>
            <a:ext cx="7007733" cy="7958941"/>
            <a:chOff x="0" y="0"/>
            <a:chExt cx="1845658" cy="20961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45658" cy="2096182"/>
            </a:xfrm>
            <a:custGeom>
              <a:avLst/>
              <a:gdLst/>
              <a:ahLst/>
              <a:cxnLst/>
              <a:rect r="r" b="b" t="t" l="l"/>
              <a:pathLst>
                <a:path h="2096182" w="1845658">
                  <a:moveTo>
                    <a:pt x="27619" y="0"/>
                  </a:moveTo>
                  <a:lnTo>
                    <a:pt x="1818039" y="0"/>
                  </a:lnTo>
                  <a:cubicBezTo>
                    <a:pt x="1825364" y="0"/>
                    <a:pt x="1832389" y="2910"/>
                    <a:pt x="1837568" y="8089"/>
                  </a:cubicBezTo>
                  <a:cubicBezTo>
                    <a:pt x="1842748" y="13269"/>
                    <a:pt x="1845658" y="20294"/>
                    <a:pt x="1845658" y="27619"/>
                  </a:cubicBezTo>
                  <a:lnTo>
                    <a:pt x="1845658" y="2068563"/>
                  </a:lnTo>
                  <a:cubicBezTo>
                    <a:pt x="1845658" y="2075888"/>
                    <a:pt x="1842748" y="2082913"/>
                    <a:pt x="1837568" y="2088093"/>
                  </a:cubicBezTo>
                  <a:cubicBezTo>
                    <a:pt x="1832389" y="2093272"/>
                    <a:pt x="1825364" y="2096182"/>
                    <a:pt x="1818039" y="2096182"/>
                  </a:cubicBezTo>
                  <a:lnTo>
                    <a:pt x="27619" y="2096182"/>
                  </a:lnTo>
                  <a:cubicBezTo>
                    <a:pt x="20294" y="2096182"/>
                    <a:pt x="13269" y="2093272"/>
                    <a:pt x="8089" y="2088093"/>
                  </a:cubicBezTo>
                  <a:cubicBezTo>
                    <a:pt x="2910" y="2082913"/>
                    <a:pt x="0" y="2075888"/>
                    <a:pt x="0" y="2068563"/>
                  </a:cubicBezTo>
                  <a:lnTo>
                    <a:pt x="0" y="27619"/>
                  </a:lnTo>
                  <a:cubicBezTo>
                    <a:pt x="0" y="20294"/>
                    <a:pt x="2910" y="13269"/>
                    <a:pt x="8089" y="8089"/>
                  </a:cubicBezTo>
                  <a:cubicBezTo>
                    <a:pt x="13269" y="2910"/>
                    <a:pt x="20294" y="0"/>
                    <a:pt x="2761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45658" cy="213428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000000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This is the core of the system.</a:t>
              </a:r>
            </a:p>
            <a:p>
              <a:pPr algn="l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000000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Reduce error between desired and actual speed</a:t>
              </a:r>
            </a:p>
            <a:p>
              <a:pPr algn="l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000000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Improve stability and response</a:t>
              </a:r>
            </a:p>
            <a:p>
              <a:pPr algn="l">
                <a:lnSpc>
                  <a:spcPts val="3640"/>
                </a:lnSpc>
              </a:pPr>
            </a:p>
            <a:p>
              <a:pPr algn="l" marL="604526" indent="-302263" lvl="1">
                <a:lnSpc>
                  <a:spcPts val="364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000000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Proportional (P): reacts to present error</a:t>
              </a:r>
            </a:p>
            <a:p>
              <a:pPr algn="l" marL="604526" indent="-302263" lvl="1">
                <a:lnSpc>
                  <a:spcPts val="364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000000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Integral (I): removes steady-state error</a:t>
              </a:r>
            </a:p>
            <a:p>
              <a:pPr algn="l" marL="604526" indent="-302263" lvl="1">
                <a:lnSpc>
                  <a:spcPts val="3640"/>
                </a:lnSpc>
                <a:buFont typeface="Arial"/>
                <a:buChar char="•"/>
              </a:pPr>
              <a:r>
                <a:rPr lang="en-US" b="true" sz="2800">
                  <a:solidFill>
                    <a:srgbClr val="000000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Derivative (D): reduces overshoot and improves stability</a:t>
              </a:r>
            </a:p>
            <a:p>
              <a:pPr algn="l">
                <a:lnSpc>
                  <a:spcPts val="3640"/>
                </a:lnSpc>
              </a:pPr>
            </a:p>
            <a:p>
              <a:pPr algn="l">
                <a:lnSpc>
                  <a:spcPts val="3640"/>
                </a:lnSpc>
              </a:pPr>
              <a:r>
                <a:rPr lang="en-US" b="true" sz="2800">
                  <a:solidFill>
                    <a:srgbClr val="000000"/>
                  </a:solidFill>
                  <a:latin typeface="Cocomat Pro Bold"/>
                  <a:ea typeface="Cocomat Pro Bold"/>
                  <a:cs typeface="Cocomat Pro Bold"/>
                  <a:sym typeface="Cocomat Pro Bold"/>
                </a:rPr>
                <a:t>Implemented using op-amp networks</a:t>
              </a:r>
            </a:p>
            <a:p>
              <a:pPr algn="ctr" marL="0" indent="0" lvl="0">
                <a:lnSpc>
                  <a:spcPts val="273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96538" y="8553132"/>
            <a:ext cx="5245014" cy="1055559"/>
          </a:xfrm>
          <a:custGeom>
            <a:avLst/>
            <a:gdLst/>
            <a:ahLst/>
            <a:cxnLst/>
            <a:rect r="r" b="b" t="t" l="l"/>
            <a:pathLst>
              <a:path h="1055559" w="5245014">
                <a:moveTo>
                  <a:pt x="0" y="0"/>
                </a:moveTo>
                <a:lnTo>
                  <a:pt x="5245014" y="0"/>
                </a:lnTo>
                <a:lnTo>
                  <a:pt x="5245014" y="1055559"/>
                </a:lnTo>
                <a:lnTo>
                  <a:pt x="0" y="1055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259" y="3145829"/>
            <a:ext cx="8991741" cy="5935083"/>
          </a:xfrm>
          <a:custGeom>
            <a:avLst/>
            <a:gdLst/>
            <a:ahLst/>
            <a:cxnLst/>
            <a:rect r="r" b="b" t="t" l="l"/>
            <a:pathLst>
              <a:path h="5935083" w="8991741">
                <a:moveTo>
                  <a:pt x="0" y="0"/>
                </a:moveTo>
                <a:lnTo>
                  <a:pt x="8991741" y="0"/>
                </a:lnTo>
                <a:lnTo>
                  <a:pt x="8991741" y="5935083"/>
                </a:lnTo>
                <a:lnTo>
                  <a:pt x="0" y="5935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1" r="0" b="-19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61294" y="1571625"/>
            <a:ext cx="6667500" cy="992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3"/>
              </a:lnSpc>
            </a:pPr>
            <a:r>
              <a:rPr lang="en-US" b="true" sz="6912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PID Controller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AE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24000"/>
            <a:ext cx="16002000" cy="7239000"/>
            <a:chOff x="0" y="0"/>
            <a:chExt cx="4214519" cy="1906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4518" cy="1906568"/>
            </a:xfrm>
            <a:custGeom>
              <a:avLst/>
              <a:gdLst/>
              <a:ahLst/>
              <a:cxnLst/>
              <a:rect r="r" b="b" t="t" l="l"/>
              <a:pathLst>
                <a:path h="1906568" w="4214518">
                  <a:moveTo>
                    <a:pt x="12095" y="0"/>
                  </a:moveTo>
                  <a:lnTo>
                    <a:pt x="4202423" y="0"/>
                  </a:lnTo>
                  <a:cubicBezTo>
                    <a:pt x="4205631" y="0"/>
                    <a:pt x="4208707" y="1274"/>
                    <a:pt x="4210976" y="3543"/>
                  </a:cubicBezTo>
                  <a:cubicBezTo>
                    <a:pt x="4213244" y="5811"/>
                    <a:pt x="4214518" y="8887"/>
                    <a:pt x="4214518" y="12095"/>
                  </a:cubicBezTo>
                  <a:lnTo>
                    <a:pt x="4214518" y="1894473"/>
                  </a:lnTo>
                  <a:cubicBezTo>
                    <a:pt x="4214518" y="1901153"/>
                    <a:pt x="4209103" y="1906568"/>
                    <a:pt x="4202423" y="1906568"/>
                  </a:cubicBezTo>
                  <a:lnTo>
                    <a:pt x="12095" y="1906568"/>
                  </a:lnTo>
                  <a:cubicBezTo>
                    <a:pt x="8887" y="1906568"/>
                    <a:pt x="5811" y="1905294"/>
                    <a:pt x="3543" y="1903025"/>
                  </a:cubicBezTo>
                  <a:cubicBezTo>
                    <a:pt x="1274" y="1900757"/>
                    <a:pt x="0" y="1897680"/>
                    <a:pt x="0" y="1894473"/>
                  </a:cubicBezTo>
                  <a:lnTo>
                    <a:pt x="0" y="12095"/>
                  </a:lnTo>
                  <a:cubicBezTo>
                    <a:pt x="0" y="8887"/>
                    <a:pt x="1274" y="5811"/>
                    <a:pt x="3543" y="3543"/>
                  </a:cubicBezTo>
                  <a:cubicBezTo>
                    <a:pt x="5811" y="1274"/>
                    <a:pt x="8887" y="0"/>
                    <a:pt x="12095" y="0"/>
                  </a:cubicBezTo>
                  <a:close/>
                </a:path>
              </a:pathLst>
            </a:custGeom>
            <a:solidFill>
              <a:srgbClr val="38476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214519" cy="1906568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ctr" marL="0" indent="0" lvl="0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4781" y="2139495"/>
            <a:ext cx="4572000" cy="2095500"/>
            <a:chOff x="0" y="0"/>
            <a:chExt cx="1204148" cy="5519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4148" cy="551901"/>
            </a:xfrm>
            <a:custGeom>
              <a:avLst/>
              <a:gdLst/>
              <a:ahLst/>
              <a:cxnLst/>
              <a:rect r="r" b="b" t="t" l="l"/>
              <a:pathLst>
                <a:path h="551901" w="1204148">
                  <a:moveTo>
                    <a:pt x="42333" y="0"/>
                  </a:moveTo>
                  <a:lnTo>
                    <a:pt x="1161815" y="0"/>
                  </a:lnTo>
                  <a:cubicBezTo>
                    <a:pt x="1173042" y="0"/>
                    <a:pt x="1183810" y="4460"/>
                    <a:pt x="1191749" y="12399"/>
                  </a:cubicBezTo>
                  <a:cubicBezTo>
                    <a:pt x="1199688" y="20338"/>
                    <a:pt x="1204148" y="31106"/>
                    <a:pt x="1204148" y="42333"/>
                  </a:cubicBezTo>
                  <a:lnTo>
                    <a:pt x="1204148" y="509568"/>
                  </a:lnTo>
                  <a:cubicBezTo>
                    <a:pt x="1204148" y="520795"/>
                    <a:pt x="1199688" y="531563"/>
                    <a:pt x="1191749" y="539502"/>
                  </a:cubicBezTo>
                  <a:cubicBezTo>
                    <a:pt x="1183810" y="547441"/>
                    <a:pt x="1173042" y="551901"/>
                    <a:pt x="1161815" y="551901"/>
                  </a:cubicBezTo>
                  <a:lnTo>
                    <a:pt x="42333" y="551901"/>
                  </a:lnTo>
                  <a:cubicBezTo>
                    <a:pt x="31106" y="551901"/>
                    <a:pt x="20338" y="547441"/>
                    <a:pt x="12399" y="539502"/>
                  </a:cubicBezTo>
                  <a:cubicBezTo>
                    <a:pt x="4460" y="531563"/>
                    <a:pt x="0" y="520795"/>
                    <a:pt x="0" y="50956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204148" cy="64715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5500"/>
                </a:lnSpc>
              </a:pPr>
              <a:r>
                <a:rPr lang="en-US" b="true" sz="500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PWM Generation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653304" y="2139495"/>
            <a:ext cx="9280500" cy="6071617"/>
          </a:xfrm>
          <a:custGeom>
            <a:avLst/>
            <a:gdLst/>
            <a:ahLst/>
            <a:cxnLst/>
            <a:rect r="r" b="b" t="t" l="l"/>
            <a:pathLst>
              <a:path h="6071617" w="9280500">
                <a:moveTo>
                  <a:pt x="0" y="0"/>
                </a:moveTo>
                <a:lnTo>
                  <a:pt x="9280500" y="0"/>
                </a:lnTo>
                <a:lnTo>
                  <a:pt x="9280500" y="6071618"/>
                </a:lnTo>
                <a:lnTo>
                  <a:pt x="0" y="6071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B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43107">
            <a:off x="12628595" y="412156"/>
            <a:ext cx="5629820" cy="992256"/>
          </a:xfrm>
          <a:custGeom>
            <a:avLst/>
            <a:gdLst/>
            <a:ahLst/>
            <a:cxnLst/>
            <a:rect r="r" b="b" t="t" l="l"/>
            <a:pathLst>
              <a:path h="992256" w="5629820">
                <a:moveTo>
                  <a:pt x="0" y="0"/>
                </a:moveTo>
                <a:lnTo>
                  <a:pt x="5629820" y="0"/>
                </a:lnTo>
                <a:lnTo>
                  <a:pt x="5629820" y="992255"/>
                </a:lnTo>
                <a:lnTo>
                  <a:pt x="0" y="992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687491">
            <a:off x="13758590" y="9120021"/>
            <a:ext cx="5629820" cy="992256"/>
          </a:xfrm>
          <a:custGeom>
            <a:avLst/>
            <a:gdLst/>
            <a:ahLst/>
            <a:cxnLst/>
            <a:rect r="r" b="b" t="t" l="l"/>
            <a:pathLst>
              <a:path h="992256" w="5629820">
                <a:moveTo>
                  <a:pt x="0" y="0"/>
                </a:moveTo>
                <a:lnTo>
                  <a:pt x="5629820" y="0"/>
                </a:lnTo>
                <a:lnTo>
                  <a:pt x="5629820" y="992256"/>
                </a:lnTo>
                <a:lnTo>
                  <a:pt x="0" y="992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453472" y="-1177882"/>
            <a:ext cx="1559409" cy="4172331"/>
          </a:xfrm>
          <a:custGeom>
            <a:avLst/>
            <a:gdLst/>
            <a:ahLst/>
            <a:cxnLst/>
            <a:rect r="r" b="b" t="t" l="l"/>
            <a:pathLst>
              <a:path h="4172331" w="1559409">
                <a:moveTo>
                  <a:pt x="0" y="0"/>
                </a:moveTo>
                <a:lnTo>
                  <a:pt x="1559408" y="0"/>
                </a:lnTo>
                <a:lnTo>
                  <a:pt x="1559408" y="4172331"/>
                </a:lnTo>
                <a:lnTo>
                  <a:pt x="0" y="4172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483364">
            <a:off x="-2171089" y="6135558"/>
            <a:ext cx="5851051" cy="2793877"/>
          </a:xfrm>
          <a:custGeom>
            <a:avLst/>
            <a:gdLst/>
            <a:ahLst/>
            <a:cxnLst/>
            <a:rect r="r" b="b" t="t" l="l"/>
            <a:pathLst>
              <a:path h="2793877" w="5851051">
                <a:moveTo>
                  <a:pt x="0" y="0"/>
                </a:moveTo>
                <a:lnTo>
                  <a:pt x="5851051" y="0"/>
                </a:lnTo>
                <a:lnTo>
                  <a:pt x="5851051" y="2793877"/>
                </a:lnTo>
                <a:lnTo>
                  <a:pt x="0" y="2793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36178" y="2953829"/>
            <a:ext cx="6753352" cy="4664583"/>
            <a:chOff x="0" y="0"/>
            <a:chExt cx="1778661" cy="12285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661" cy="1228532"/>
            </a:xfrm>
            <a:custGeom>
              <a:avLst/>
              <a:gdLst/>
              <a:ahLst/>
              <a:cxnLst/>
              <a:rect r="r" b="b" t="t" l="l"/>
              <a:pathLst>
                <a:path h="1228532" w="1778661">
                  <a:moveTo>
                    <a:pt x="28660" y="0"/>
                  </a:moveTo>
                  <a:lnTo>
                    <a:pt x="1750001" y="0"/>
                  </a:lnTo>
                  <a:cubicBezTo>
                    <a:pt x="1765829" y="0"/>
                    <a:pt x="1778661" y="12831"/>
                    <a:pt x="1778661" y="28660"/>
                  </a:cubicBezTo>
                  <a:lnTo>
                    <a:pt x="1778661" y="1199872"/>
                  </a:lnTo>
                  <a:cubicBezTo>
                    <a:pt x="1778661" y="1207473"/>
                    <a:pt x="1775641" y="1214763"/>
                    <a:pt x="1770266" y="1220138"/>
                  </a:cubicBezTo>
                  <a:cubicBezTo>
                    <a:pt x="1764892" y="1225513"/>
                    <a:pt x="1757602" y="1228532"/>
                    <a:pt x="1750001" y="1228532"/>
                  </a:cubicBezTo>
                  <a:lnTo>
                    <a:pt x="28660" y="1228532"/>
                  </a:lnTo>
                  <a:cubicBezTo>
                    <a:pt x="12831" y="1228532"/>
                    <a:pt x="0" y="1215701"/>
                    <a:pt x="0" y="1199872"/>
                  </a:cubicBezTo>
                  <a:lnTo>
                    <a:pt x="0" y="28660"/>
                  </a:lnTo>
                  <a:cubicBezTo>
                    <a:pt x="0" y="21059"/>
                    <a:pt x="3019" y="13769"/>
                    <a:pt x="8394" y="8394"/>
                  </a:cubicBezTo>
                  <a:cubicBezTo>
                    <a:pt x="13769" y="3019"/>
                    <a:pt x="21059" y="0"/>
                    <a:pt x="28660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23825"/>
              <a:ext cx="1778661" cy="135235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7699"/>
                </a:lnSpc>
              </a:pPr>
              <a:r>
                <a:rPr lang="en-US" sz="6999" b="true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Component </a:t>
              </a:r>
            </a:p>
            <a:p>
              <a:pPr algn="ctr">
                <a:lnSpc>
                  <a:spcPts val="7699"/>
                </a:lnSpc>
              </a:pPr>
              <a:r>
                <a:rPr lang="en-US" sz="6999" b="true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Selection</a:t>
              </a:r>
            </a:p>
            <a:p>
              <a:pPr algn="ctr">
                <a:lnSpc>
                  <a:spcPts val="7699"/>
                </a:lnSpc>
              </a:pPr>
              <a:r>
                <a:rPr lang="en-US" sz="6999" b="true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&amp;</a:t>
              </a:r>
            </a:p>
            <a:p>
              <a:pPr algn="ctr" marL="0" indent="0" lvl="0">
                <a:lnSpc>
                  <a:spcPts val="7699"/>
                </a:lnSpc>
              </a:pPr>
              <a:r>
                <a:rPr lang="en-US" b="true" sz="6999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Specification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765855" y="1028700"/>
            <a:ext cx="7561540" cy="8211701"/>
            <a:chOff x="0" y="0"/>
            <a:chExt cx="1991517" cy="21627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1517" cy="2162753"/>
            </a:xfrm>
            <a:custGeom>
              <a:avLst/>
              <a:gdLst/>
              <a:ahLst/>
              <a:cxnLst/>
              <a:rect r="r" b="b" t="t" l="l"/>
              <a:pathLst>
                <a:path h="2162753" w="1991517">
                  <a:moveTo>
                    <a:pt x="25596" y="0"/>
                  </a:moveTo>
                  <a:lnTo>
                    <a:pt x="1965920" y="0"/>
                  </a:lnTo>
                  <a:cubicBezTo>
                    <a:pt x="1980057" y="0"/>
                    <a:pt x="1991517" y="11460"/>
                    <a:pt x="1991517" y="25596"/>
                  </a:cubicBezTo>
                  <a:lnTo>
                    <a:pt x="1991517" y="2137156"/>
                  </a:lnTo>
                  <a:cubicBezTo>
                    <a:pt x="1991517" y="2151293"/>
                    <a:pt x="1980057" y="2162753"/>
                    <a:pt x="1965920" y="2162753"/>
                  </a:cubicBezTo>
                  <a:lnTo>
                    <a:pt x="25596" y="2162753"/>
                  </a:lnTo>
                  <a:cubicBezTo>
                    <a:pt x="11460" y="2162753"/>
                    <a:pt x="0" y="2151293"/>
                    <a:pt x="0" y="2137156"/>
                  </a:cubicBezTo>
                  <a:lnTo>
                    <a:pt x="0" y="25596"/>
                  </a:lnTo>
                  <a:cubicBezTo>
                    <a:pt x="0" y="11460"/>
                    <a:pt x="11460" y="0"/>
                    <a:pt x="2559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991517" cy="2238953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00000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Op Amps-</a:t>
              </a: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000001"/>
                  </a:solidFill>
                  <a:latin typeface="Agrandir Medium"/>
                  <a:ea typeface="Agrandir Medium"/>
                  <a:cs typeface="Agrandir Medium"/>
                  <a:sym typeface="Agrandir Medium"/>
                </a:rPr>
                <a:t>TL071 - Has higher slew rate,low noise</a:t>
              </a: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000001"/>
                  </a:solidFill>
                  <a:latin typeface="Agrandir Medium"/>
                  <a:ea typeface="Agrandir Medium"/>
                  <a:cs typeface="Agrandir Medium"/>
                  <a:sym typeface="Agrandir Medium"/>
                </a:rPr>
                <a:t>LM741 -General purpose</a:t>
              </a:r>
            </a:p>
            <a:p>
              <a:pPr algn="l">
                <a:lnSpc>
                  <a:spcPts val="3000"/>
                </a:lnSpc>
              </a:pPr>
            </a:p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00000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Transistors-</a:t>
              </a: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1"/>
                  </a:solidFill>
                  <a:latin typeface="Agrandir"/>
                  <a:ea typeface="Agrandir"/>
                  <a:cs typeface="Agrandir"/>
                  <a:sym typeface="Agrandir"/>
                </a:rPr>
                <a:t>2N3906P-switching/amplification</a:t>
              </a: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1"/>
                  </a:solidFill>
                  <a:latin typeface="Agrandir"/>
                  <a:ea typeface="Agrandir"/>
                  <a:cs typeface="Agrandir"/>
                  <a:sym typeface="Agrandir"/>
                </a:rPr>
                <a:t>TIP41C- Motor Driver</a:t>
              </a:r>
            </a:p>
            <a:p>
              <a:pPr algn="l">
                <a:lnSpc>
                  <a:spcPts val="3000"/>
                </a:lnSpc>
              </a:pPr>
            </a:p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00000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DIodes-</a:t>
              </a: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1"/>
                  </a:solidFill>
                  <a:latin typeface="Agrandir"/>
                  <a:ea typeface="Agrandir"/>
                  <a:cs typeface="Agrandir"/>
                  <a:sym typeface="Agrandir"/>
                </a:rPr>
                <a:t>1</a:t>
              </a:r>
              <a:r>
                <a:rPr lang="en-US" sz="2500">
                  <a:solidFill>
                    <a:srgbClr val="000001"/>
                  </a:solidFill>
                  <a:latin typeface="Agrandir"/>
                  <a:ea typeface="Agrandir"/>
                  <a:cs typeface="Agrandir"/>
                  <a:sym typeface="Agrandir"/>
                </a:rPr>
                <a:t>N914-Fast switching</a:t>
              </a:r>
            </a:p>
            <a:p>
              <a:pPr algn="l">
                <a:lnSpc>
                  <a:spcPts val="3000"/>
                </a:lnSpc>
              </a:pPr>
            </a:p>
            <a:p>
              <a:pPr algn="l">
                <a:lnSpc>
                  <a:spcPts val="3000"/>
                </a:lnSpc>
              </a:pPr>
            </a:p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00000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Motor -</a:t>
              </a: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sz="2500">
                  <a:solidFill>
                    <a:srgbClr val="000001"/>
                  </a:solidFill>
                  <a:latin typeface="Agrandir"/>
                  <a:ea typeface="Agrandir"/>
                  <a:cs typeface="Agrandir"/>
                  <a:sym typeface="Agrandir"/>
                </a:rPr>
                <a:t>N20-built in magnetic encoder</a:t>
              </a:r>
            </a:p>
            <a:p>
              <a:pPr algn="l">
                <a:lnSpc>
                  <a:spcPts val="3000"/>
                </a:lnSpc>
              </a:pPr>
            </a:p>
            <a:p>
              <a:pPr algn="l">
                <a:lnSpc>
                  <a:spcPts val="3000"/>
                </a:lnSpc>
              </a:pPr>
              <a:r>
                <a:rPr lang="en-US" sz="2500" b="true">
                  <a:solidFill>
                    <a:srgbClr val="000001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Supply Voltage</a:t>
              </a:r>
              <a:r>
                <a:rPr lang="en-US" sz="2500">
                  <a:solidFill>
                    <a:srgbClr val="000001"/>
                  </a:solidFill>
                  <a:latin typeface="Agrandir"/>
                  <a:ea typeface="Agrandir"/>
                  <a:cs typeface="Agrandir"/>
                  <a:sym typeface="Agrandir"/>
                </a:rPr>
                <a:t>-</a:t>
              </a:r>
              <a:r>
                <a:rPr lang="en-US" sz="2500" b="true">
                  <a:solidFill>
                    <a:srgbClr val="000001"/>
                  </a:solidFill>
                  <a:latin typeface="Agrandir Medium"/>
                  <a:ea typeface="Agrandir Medium"/>
                  <a:cs typeface="Agrandir Medium"/>
                  <a:sym typeface="Agrandir Medium"/>
                </a:rPr>
                <a:t> </a:t>
              </a: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000001"/>
                  </a:solidFill>
                  <a:latin typeface="Agrandir Medium"/>
                  <a:ea typeface="Agrandir Medium"/>
                  <a:cs typeface="Agrandir Medium"/>
                  <a:sym typeface="Agrandir Medium"/>
                </a:rPr>
                <a:t>6V</a:t>
              </a:r>
            </a:p>
            <a:p>
              <a:pPr algn="l" marL="539751" indent="-269876" lvl="1">
                <a:lnSpc>
                  <a:spcPts val="3000"/>
                </a:lnSpc>
                <a:buFont typeface="Arial"/>
                <a:buChar char="•"/>
              </a:pPr>
              <a:r>
                <a:rPr lang="en-US" b="true" sz="2500">
                  <a:solidFill>
                    <a:srgbClr val="000001"/>
                  </a:solidFill>
                  <a:latin typeface="Agrandir Medium"/>
                  <a:ea typeface="Agrandir Medium"/>
                  <a:cs typeface="Agrandir Medium"/>
                  <a:sym typeface="Agrandir Medium"/>
                </a:rPr>
                <a:t>±12V Dual Supply</a:t>
              </a:r>
            </a:p>
            <a:p>
              <a:pPr algn="l">
                <a:lnSpc>
                  <a:spcPts val="3000"/>
                </a:lnSpc>
              </a:pPr>
            </a:p>
            <a:p>
              <a:pPr algn="l" marL="0" indent="0" lvl="0">
                <a:lnSpc>
                  <a:spcPts val="30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312294" y="7028138"/>
            <a:ext cx="1102314" cy="2027245"/>
          </a:xfrm>
          <a:custGeom>
            <a:avLst/>
            <a:gdLst/>
            <a:ahLst/>
            <a:cxnLst/>
            <a:rect r="r" b="b" t="t" l="l"/>
            <a:pathLst>
              <a:path h="2027245" w="1102314">
                <a:moveTo>
                  <a:pt x="0" y="0"/>
                </a:moveTo>
                <a:lnTo>
                  <a:pt x="1102314" y="0"/>
                </a:lnTo>
                <a:lnTo>
                  <a:pt x="1102314" y="2027245"/>
                </a:lnTo>
                <a:lnTo>
                  <a:pt x="0" y="20272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63451" y="4738050"/>
            <a:ext cx="1184144" cy="1181832"/>
          </a:xfrm>
          <a:custGeom>
            <a:avLst/>
            <a:gdLst/>
            <a:ahLst/>
            <a:cxnLst/>
            <a:rect r="r" b="b" t="t" l="l"/>
            <a:pathLst>
              <a:path h="1181832" w="1184144">
                <a:moveTo>
                  <a:pt x="0" y="0"/>
                </a:moveTo>
                <a:lnTo>
                  <a:pt x="1184144" y="0"/>
                </a:lnTo>
                <a:lnTo>
                  <a:pt x="1184144" y="1181832"/>
                </a:lnTo>
                <a:lnTo>
                  <a:pt x="0" y="1181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530920" y="2328625"/>
            <a:ext cx="1348480" cy="1250409"/>
          </a:xfrm>
          <a:custGeom>
            <a:avLst/>
            <a:gdLst/>
            <a:ahLst/>
            <a:cxnLst/>
            <a:rect r="r" b="b" t="t" l="l"/>
            <a:pathLst>
              <a:path h="1250409" w="1348480">
                <a:moveTo>
                  <a:pt x="0" y="0"/>
                </a:moveTo>
                <a:lnTo>
                  <a:pt x="1348480" y="0"/>
                </a:lnTo>
                <a:lnTo>
                  <a:pt x="1348480" y="1250408"/>
                </a:lnTo>
                <a:lnTo>
                  <a:pt x="0" y="12504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431406" y="1028700"/>
            <a:ext cx="895989" cy="1038213"/>
          </a:xfrm>
          <a:custGeom>
            <a:avLst/>
            <a:gdLst/>
            <a:ahLst/>
            <a:cxnLst/>
            <a:rect r="r" b="b" t="t" l="l"/>
            <a:pathLst>
              <a:path h="1038213" w="895989">
                <a:moveTo>
                  <a:pt x="0" y="0"/>
                </a:moveTo>
                <a:lnTo>
                  <a:pt x="895989" y="0"/>
                </a:lnTo>
                <a:lnTo>
                  <a:pt x="895989" y="1038213"/>
                </a:lnTo>
                <a:lnTo>
                  <a:pt x="0" y="10382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44915" b="-800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53811" y="6145176"/>
            <a:ext cx="1453980" cy="882962"/>
          </a:xfrm>
          <a:custGeom>
            <a:avLst/>
            <a:gdLst/>
            <a:ahLst/>
            <a:cxnLst/>
            <a:rect r="r" b="b" t="t" l="l"/>
            <a:pathLst>
              <a:path h="882962" w="1453980">
                <a:moveTo>
                  <a:pt x="0" y="0"/>
                </a:moveTo>
                <a:lnTo>
                  <a:pt x="1453979" y="0"/>
                </a:lnTo>
                <a:lnTo>
                  <a:pt x="1453979" y="882962"/>
                </a:lnTo>
                <a:lnTo>
                  <a:pt x="0" y="882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530920" y="3317321"/>
            <a:ext cx="604777" cy="1516683"/>
          </a:xfrm>
          <a:custGeom>
            <a:avLst/>
            <a:gdLst/>
            <a:ahLst/>
            <a:cxnLst/>
            <a:rect r="r" b="b" t="t" l="l"/>
            <a:pathLst>
              <a:path h="1516683" w="604777">
                <a:moveTo>
                  <a:pt x="0" y="0"/>
                </a:moveTo>
                <a:lnTo>
                  <a:pt x="604778" y="0"/>
                </a:lnTo>
                <a:lnTo>
                  <a:pt x="604778" y="1516684"/>
                </a:lnTo>
                <a:lnTo>
                  <a:pt x="0" y="151668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CC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13516" y="0"/>
            <a:ext cx="7810500" cy="10477500"/>
            <a:chOff x="0" y="0"/>
            <a:chExt cx="1983619" cy="26609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3619" cy="2660952"/>
            </a:xfrm>
            <a:custGeom>
              <a:avLst/>
              <a:gdLst/>
              <a:ahLst/>
              <a:cxnLst/>
              <a:rect r="r" b="b" t="t" l="l"/>
              <a:pathLst>
                <a:path h="2660952" w="1983619">
                  <a:moveTo>
                    <a:pt x="0" y="0"/>
                  </a:moveTo>
                  <a:lnTo>
                    <a:pt x="1983619" y="0"/>
                  </a:lnTo>
                  <a:lnTo>
                    <a:pt x="1983619" y="2660952"/>
                  </a:lnTo>
                  <a:lnTo>
                    <a:pt x="0" y="2660952"/>
                  </a:lnTo>
                  <a:close/>
                </a:path>
              </a:pathLst>
            </a:custGeom>
            <a:solidFill>
              <a:srgbClr val="38476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983619" cy="26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6345167" y="-605721"/>
            <a:ext cx="583961" cy="2684880"/>
          </a:xfrm>
          <a:custGeom>
            <a:avLst/>
            <a:gdLst/>
            <a:ahLst/>
            <a:cxnLst/>
            <a:rect r="r" b="b" t="t" l="l"/>
            <a:pathLst>
              <a:path h="2684880" w="583961">
                <a:moveTo>
                  <a:pt x="0" y="0"/>
                </a:moveTo>
                <a:lnTo>
                  <a:pt x="583961" y="0"/>
                </a:lnTo>
                <a:lnTo>
                  <a:pt x="583961" y="2684880"/>
                </a:lnTo>
                <a:lnTo>
                  <a:pt x="0" y="2684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90395" y="2848307"/>
            <a:ext cx="15167541" cy="6132697"/>
            <a:chOff x="0" y="0"/>
            <a:chExt cx="4068720" cy="16451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8720" cy="1645107"/>
            </a:xfrm>
            <a:custGeom>
              <a:avLst/>
              <a:gdLst/>
              <a:ahLst/>
              <a:cxnLst/>
              <a:rect r="r" b="b" t="t" l="l"/>
              <a:pathLst>
                <a:path h="1645107" w="4068720">
                  <a:moveTo>
                    <a:pt x="12761" y="0"/>
                  </a:moveTo>
                  <a:lnTo>
                    <a:pt x="4055959" y="0"/>
                  </a:lnTo>
                  <a:cubicBezTo>
                    <a:pt x="4059344" y="0"/>
                    <a:pt x="4062589" y="1344"/>
                    <a:pt x="4064982" y="3738"/>
                  </a:cubicBezTo>
                  <a:cubicBezTo>
                    <a:pt x="4067375" y="6131"/>
                    <a:pt x="4068720" y="9376"/>
                    <a:pt x="4068720" y="12761"/>
                  </a:cubicBezTo>
                  <a:lnTo>
                    <a:pt x="4068720" y="1632346"/>
                  </a:lnTo>
                  <a:cubicBezTo>
                    <a:pt x="4068720" y="1635730"/>
                    <a:pt x="4067375" y="1638976"/>
                    <a:pt x="4064982" y="1641369"/>
                  </a:cubicBezTo>
                  <a:cubicBezTo>
                    <a:pt x="4062589" y="1643762"/>
                    <a:pt x="4059344" y="1645107"/>
                    <a:pt x="4055959" y="1645107"/>
                  </a:cubicBezTo>
                  <a:lnTo>
                    <a:pt x="12761" y="1645107"/>
                  </a:lnTo>
                  <a:cubicBezTo>
                    <a:pt x="9376" y="1645107"/>
                    <a:pt x="6131" y="1643762"/>
                    <a:pt x="3738" y="1641369"/>
                  </a:cubicBezTo>
                  <a:cubicBezTo>
                    <a:pt x="1344" y="1638976"/>
                    <a:pt x="0" y="1635730"/>
                    <a:pt x="0" y="1632346"/>
                  </a:cubicBezTo>
                  <a:lnTo>
                    <a:pt x="0" y="12761"/>
                  </a:lnTo>
                  <a:cubicBezTo>
                    <a:pt x="0" y="9376"/>
                    <a:pt x="1344" y="6131"/>
                    <a:pt x="3738" y="3738"/>
                  </a:cubicBezTo>
                  <a:cubicBezTo>
                    <a:pt x="6131" y="1344"/>
                    <a:pt x="9376" y="0"/>
                    <a:pt x="1276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068720" cy="169273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41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117180" y="830224"/>
            <a:ext cx="12344673" cy="1710004"/>
            <a:chOff x="0" y="0"/>
            <a:chExt cx="3251272" cy="4503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51272" cy="450371"/>
            </a:xfrm>
            <a:custGeom>
              <a:avLst/>
              <a:gdLst/>
              <a:ahLst/>
              <a:cxnLst/>
              <a:rect r="r" b="b" t="t" l="l"/>
              <a:pathLst>
                <a:path h="450371" w="3251272">
                  <a:moveTo>
                    <a:pt x="15679" y="0"/>
                  </a:moveTo>
                  <a:lnTo>
                    <a:pt x="3235593" y="0"/>
                  </a:lnTo>
                  <a:cubicBezTo>
                    <a:pt x="3239751" y="0"/>
                    <a:pt x="3243739" y="1652"/>
                    <a:pt x="3246680" y="4592"/>
                  </a:cubicBezTo>
                  <a:cubicBezTo>
                    <a:pt x="3249620" y="7532"/>
                    <a:pt x="3251272" y="11520"/>
                    <a:pt x="3251272" y="15679"/>
                  </a:cubicBezTo>
                  <a:lnTo>
                    <a:pt x="3251272" y="434693"/>
                  </a:lnTo>
                  <a:cubicBezTo>
                    <a:pt x="3251272" y="438851"/>
                    <a:pt x="3249620" y="442839"/>
                    <a:pt x="3246680" y="445779"/>
                  </a:cubicBezTo>
                  <a:cubicBezTo>
                    <a:pt x="3243739" y="448720"/>
                    <a:pt x="3239751" y="450371"/>
                    <a:pt x="3235593" y="450371"/>
                  </a:cubicBezTo>
                  <a:lnTo>
                    <a:pt x="15679" y="450371"/>
                  </a:lnTo>
                  <a:cubicBezTo>
                    <a:pt x="11520" y="450371"/>
                    <a:pt x="7532" y="448720"/>
                    <a:pt x="4592" y="445779"/>
                  </a:cubicBezTo>
                  <a:cubicBezTo>
                    <a:pt x="1652" y="442839"/>
                    <a:pt x="0" y="438851"/>
                    <a:pt x="0" y="434693"/>
                  </a:cubicBezTo>
                  <a:lnTo>
                    <a:pt x="0" y="15679"/>
                  </a:lnTo>
                  <a:cubicBezTo>
                    <a:pt x="0" y="11520"/>
                    <a:pt x="1652" y="7532"/>
                    <a:pt x="4592" y="4592"/>
                  </a:cubicBezTo>
                  <a:cubicBezTo>
                    <a:pt x="7532" y="1652"/>
                    <a:pt x="11520" y="0"/>
                    <a:pt x="15679" y="0"/>
                  </a:cubicBezTo>
                  <a:close/>
                </a:path>
              </a:pathLst>
            </a:custGeom>
            <a:solidFill>
              <a:srgbClr val="F2C7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3251272" cy="56467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 marL="0" indent="0" lvl="0">
                <a:lnSpc>
                  <a:spcPts val="7480"/>
                </a:lnSpc>
              </a:pPr>
              <a:r>
                <a:rPr lang="en-US" b="true" sz="6800">
                  <a:solidFill>
                    <a:srgbClr val="000001"/>
                  </a:solidFill>
                  <a:latin typeface="Agrandir Narrow Ultra-Bold"/>
                  <a:ea typeface="Agrandir Narrow Ultra-Bold"/>
                  <a:cs typeface="Agrandir Narrow Ultra-Bold"/>
                  <a:sym typeface="Agrandir Narrow Ultra-Bold"/>
                </a:rPr>
                <a:t>Bread Board Implementation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605089" y="7335173"/>
            <a:ext cx="5520015" cy="2870408"/>
          </a:xfrm>
          <a:custGeom>
            <a:avLst/>
            <a:gdLst/>
            <a:ahLst/>
            <a:cxnLst/>
            <a:rect r="r" b="b" t="t" l="l"/>
            <a:pathLst>
              <a:path h="2870408" w="5520015">
                <a:moveTo>
                  <a:pt x="0" y="0"/>
                </a:moveTo>
                <a:lnTo>
                  <a:pt x="5520015" y="0"/>
                </a:lnTo>
                <a:lnTo>
                  <a:pt x="5520015" y="2870408"/>
                </a:lnTo>
                <a:lnTo>
                  <a:pt x="0" y="28704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98341" y="3262709"/>
            <a:ext cx="7152983" cy="5011129"/>
          </a:xfrm>
          <a:custGeom>
            <a:avLst/>
            <a:gdLst/>
            <a:ahLst/>
            <a:cxnLst/>
            <a:rect r="r" b="b" t="t" l="l"/>
            <a:pathLst>
              <a:path h="5011129" w="7152983">
                <a:moveTo>
                  <a:pt x="0" y="0"/>
                </a:moveTo>
                <a:lnTo>
                  <a:pt x="7152983" y="0"/>
                </a:lnTo>
                <a:lnTo>
                  <a:pt x="7152983" y="5011130"/>
                </a:lnTo>
                <a:lnTo>
                  <a:pt x="0" y="501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3262738"/>
            <a:ext cx="7152983" cy="5011100"/>
          </a:xfrm>
          <a:custGeom>
            <a:avLst/>
            <a:gdLst/>
            <a:ahLst/>
            <a:cxnLst/>
            <a:rect r="r" b="b" t="t" l="l"/>
            <a:pathLst>
              <a:path h="5011100" w="7152983">
                <a:moveTo>
                  <a:pt x="0" y="0"/>
                </a:moveTo>
                <a:lnTo>
                  <a:pt x="7152983" y="0"/>
                </a:lnTo>
                <a:lnTo>
                  <a:pt x="7152983" y="5011101"/>
                </a:lnTo>
                <a:lnTo>
                  <a:pt x="0" y="50111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99" t="0" r="-13399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7B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31718" y="5145259"/>
            <a:ext cx="4687595" cy="4851327"/>
          </a:xfrm>
          <a:custGeom>
            <a:avLst/>
            <a:gdLst/>
            <a:ahLst/>
            <a:cxnLst/>
            <a:rect r="r" b="b" t="t" l="l"/>
            <a:pathLst>
              <a:path h="4851327" w="4687595">
                <a:moveTo>
                  <a:pt x="0" y="0"/>
                </a:moveTo>
                <a:lnTo>
                  <a:pt x="4687595" y="0"/>
                </a:lnTo>
                <a:lnTo>
                  <a:pt x="4687595" y="4851327"/>
                </a:lnTo>
                <a:lnTo>
                  <a:pt x="0" y="48513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408681" y="5006280"/>
            <a:ext cx="5110633" cy="5129285"/>
          </a:xfrm>
          <a:custGeom>
            <a:avLst/>
            <a:gdLst/>
            <a:ahLst/>
            <a:cxnLst/>
            <a:rect r="r" b="b" t="t" l="l"/>
            <a:pathLst>
              <a:path h="5129285" w="5110633">
                <a:moveTo>
                  <a:pt x="0" y="0"/>
                </a:moveTo>
                <a:lnTo>
                  <a:pt x="5110632" y="0"/>
                </a:lnTo>
                <a:lnTo>
                  <a:pt x="5110632" y="5129284"/>
                </a:lnTo>
                <a:lnTo>
                  <a:pt x="0" y="51292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991430" y="703717"/>
            <a:ext cx="3567922" cy="3692545"/>
          </a:xfrm>
          <a:custGeom>
            <a:avLst/>
            <a:gdLst/>
            <a:ahLst/>
            <a:cxnLst/>
            <a:rect r="r" b="b" t="t" l="l"/>
            <a:pathLst>
              <a:path h="3692545" w="3567922">
                <a:moveTo>
                  <a:pt x="0" y="0"/>
                </a:moveTo>
                <a:lnTo>
                  <a:pt x="3567922" y="0"/>
                </a:lnTo>
                <a:lnTo>
                  <a:pt x="3567922" y="3692546"/>
                </a:lnTo>
                <a:lnTo>
                  <a:pt x="0" y="3692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1313422" y="597935"/>
            <a:ext cx="3889914" cy="3904110"/>
          </a:xfrm>
          <a:custGeom>
            <a:avLst/>
            <a:gdLst/>
            <a:ahLst/>
            <a:cxnLst/>
            <a:rect r="r" b="b" t="t" l="l"/>
            <a:pathLst>
              <a:path h="3904110" w="3889914">
                <a:moveTo>
                  <a:pt x="0" y="0"/>
                </a:moveTo>
                <a:lnTo>
                  <a:pt x="3889914" y="0"/>
                </a:lnTo>
                <a:lnTo>
                  <a:pt x="3889914" y="3904110"/>
                </a:lnTo>
                <a:lnTo>
                  <a:pt x="0" y="3904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9849867">
            <a:off x="-246576" y="41523"/>
            <a:ext cx="9655599" cy="1701799"/>
          </a:xfrm>
          <a:custGeom>
            <a:avLst/>
            <a:gdLst/>
            <a:ahLst/>
            <a:cxnLst/>
            <a:rect r="r" b="b" t="t" l="l"/>
            <a:pathLst>
              <a:path h="1701799" w="9655599">
                <a:moveTo>
                  <a:pt x="0" y="0"/>
                </a:moveTo>
                <a:lnTo>
                  <a:pt x="9655599" y="0"/>
                </a:lnTo>
                <a:lnTo>
                  <a:pt x="9655599" y="1701800"/>
                </a:lnTo>
                <a:lnTo>
                  <a:pt x="0" y="1701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95027">
            <a:off x="8662425" y="7681808"/>
            <a:ext cx="9828907" cy="3322003"/>
          </a:xfrm>
          <a:custGeom>
            <a:avLst/>
            <a:gdLst/>
            <a:ahLst/>
            <a:cxnLst/>
            <a:rect r="r" b="b" t="t" l="l"/>
            <a:pathLst>
              <a:path h="3322003" w="9828907">
                <a:moveTo>
                  <a:pt x="0" y="0"/>
                </a:moveTo>
                <a:lnTo>
                  <a:pt x="9828906" y="0"/>
                </a:lnTo>
                <a:lnTo>
                  <a:pt x="9828906" y="3322003"/>
                </a:lnTo>
                <a:lnTo>
                  <a:pt x="0" y="33220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6903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640518" y="1546566"/>
            <a:ext cx="8127174" cy="4079375"/>
            <a:chOff x="0" y="0"/>
            <a:chExt cx="10836233" cy="54391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36233" cy="5439166"/>
            </a:xfrm>
            <a:custGeom>
              <a:avLst/>
              <a:gdLst/>
              <a:ahLst/>
              <a:cxnLst/>
              <a:rect r="r" b="b" t="t" l="l"/>
              <a:pathLst>
                <a:path h="5439166" w="10836233">
                  <a:moveTo>
                    <a:pt x="0" y="0"/>
                  </a:moveTo>
                  <a:lnTo>
                    <a:pt x="10836233" y="0"/>
                  </a:lnTo>
                  <a:lnTo>
                    <a:pt x="10836233" y="5439166"/>
                  </a:lnTo>
                  <a:lnTo>
                    <a:pt x="0" y="5439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50754" t="0" r="-50754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609557" y="999778"/>
              <a:ext cx="9889553" cy="3630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0318"/>
                </a:lnSpc>
              </a:pPr>
              <a:r>
                <a:rPr lang="en-US" b="true" sz="10318">
                  <a:solidFill>
                    <a:srgbClr val="000000"/>
                  </a:solidFill>
                  <a:latin typeface="Bogart Bold"/>
                  <a:ea typeface="Bogart Bold"/>
                  <a:cs typeface="Bogart Bold"/>
                  <a:sym typeface="Bogart Bold"/>
                </a:rPr>
                <a:t>Thank You.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7133382">
            <a:off x="-1037401" y="8479492"/>
            <a:ext cx="3090473" cy="1719427"/>
          </a:xfrm>
          <a:custGeom>
            <a:avLst/>
            <a:gdLst/>
            <a:ahLst/>
            <a:cxnLst/>
            <a:rect r="r" b="b" t="t" l="l"/>
            <a:pathLst>
              <a:path h="1719427" w="3090473">
                <a:moveTo>
                  <a:pt x="0" y="0"/>
                </a:moveTo>
                <a:lnTo>
                  <a:pt x="3090472" y="0"/>
                </a:lnTo>
                <a:lnTo>
                  <a:pt x="3090472" y="1719426"/>
                </a:lnTo>
                <a:lnTo>
                  <a:pt x="0" y="17194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0" y="6347544"/>
            <a:ext cx="5392603" cy="4048222"/>
          </a:xfrm>
          <a:custGeom>
            <a:avLst/>
            <a:gdLst/>
            <a:ahLst/>
            <a:cxnLst/>
            <a:rect r="r" b="b" t="t" l="l"/>
            <a:pathLst>
              <a:path h="4048222" w="5392603">
                <a:moveTo>
                  <a:pt x="0" y="0"/>
                </a:moveTo>
                <a:lnTo>
                  <a:pt x="5392603" y="0"/>
                </a:lnTo>
                <a:lnTo>
                  <a:pt x="5392603" y="4048222"/>
                </a:lnTo>
                <a:lnTo>
                  <a:pt x="0" y="404822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2404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3635376">
            <a:off x="2161052" y="8154767"/>
            <a:ext cx="1070499" cy="2684637"/>
          </a:xfrm>
          <a:custGeom>
            <a:avLst/>
            <a:gdLst/>
            <a:ahLst/>
            <a:cxnLst/>
            <a:rect r="r" b="b" t="t" l="l"/>
            <a:pathLst>
              <a:path h="2684637" w="1070499">
                <a:moveTo>
                  <a:pt x="0" y="0"/>
                </a:moveTo>
                <a:lnTo>
                  <a:pt x="1070499" y="0"/>
                </a:lnTo>
                <a:lnTo>
                  <a:pt x="1070499" y="2684637"/>
                </a:lnTo>
                <a:lnTo>
                  <a:pt x="0" y="268463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709960">
            <a:off x="15586907" y="-1498899"/>
            <a:ext cx="3736491" cy="6482871"/>
          </a:xfrm>
          <a:custGeom>
            <a:avLst/>
            <a:gdLst/>
            <a:ahLst/>
            <a:cxnLst/>
            <a:rect r="r" b="b" t="t" l="l"/>
            <a:pathLst>
              <a:path h="6482871" w="3736491">
                <a:moveTo>
                  <a:pt x="0" y="0"/>
                </a:moveTo>
                <a:lnTo>
                  <a:pt x="3736491" y="0"/>
                </a:lnTo>
                <a:lnTo>
                  <a:pt x="3736491" y="6482870"/>
                </a:lnTo>
                <a:lnTo>
                  <a:pt x="0" y="64828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971752" y="311825"/>
            <a:ext cx="4711923" cy="2861422"/>
          </a:xfrm>
          <a:custGeom>
            <a:avLst/>
            <a:gdLst/>
            <a:ahLst/>
            <a:cxnLst/>
            <a:rect r="r" b="b" t="t" l="l"/>
            <a:pathLst>
              <a:path h="2861422" w="4711923">
                <a:moveTo>
                  <a:pt x="0" y="0"/>
                </a:moveTo>
                <a:lnTo>
                  <a:pt x="4711923" y="0"/>
                </a:lnTo>
                <a:lnTo>
                  <a:pt x="4711923" y="2861422"/>
                </a:lnTo>
                <a:lnTo>
                  <a:pt x="0" y="286142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550592" y="5990438"/>
            <a:ext cx="10307026" cy="2750688"/>
          </a:xfrm>
          <a:custGeom>
            <a:avLst/>
            <a:gdLst/>
            <a:ahLst/>
            <a:cxnLst/>
            <a:rect r="r" b="b" t="t" l="l"/>
            <a:pathLst>
              <a:path h="2750688" w="10307026">
                <a:moveTo>
                  <a:pt x="0" y="0"/>
                </a:moveTo>
                <a:lnTo>
                  <a:pt x="10307026" y="0"/>
                </a:lnTo>
                <a:lnTo>
                  <a:pt x="10307026" y="2750688"/>
                </a:lnTo>
                <a:lnTo>
                  <a:pt x="0" y="275068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DAHIE_wZVVU</dc:identifier>
  <dcterms:modified xsi:type="dcterms:W3CDTF">2011-08-01T06:04:30Z</dcterms:modified>
  <cp:revision>1</cp:revision>
  <dc:title>PID Motor Controller</dc:title>
</cp:coreProperties>
</file>